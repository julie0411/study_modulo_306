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2" r:id="rId7"/>
    <p:sldId id="273" r:id="rId8"/>
    <p:sldId id="261" r:id="rId9"/>
    <p:sldId id="262" r:id="rId10"/>
    <p:sldId id="263" r:id="rId11"/>
    <p:sldId id="264" r:id="rId12"/>
    <p:sldId id="265" r:id="rId13"/>
    <p:sldId id="270" r:id="rId14"/>
    <p:sldId id="269" r:id="rId15"/>
    <p:sldId id="271" r:id="rId16"/>
    <p:sldId id="267" r:id="rId17"/>
  </p:sldIdLst>
  <p:sldSz cx="12192000" cy="6858000"/>
  <p:notesSz cx="6858000" cy="9144000"/>
  <p:embeddedFontLst>
    <p:embeddedFont>
      <p:font typeface="JetBrains Mono" panose="02000009000000000000" pitchFamily="49" charset="0"/>
      <p:regular r:id="rId19"/>
      <p:bold r:id="rId20"/>
      <p:italic r:id="rId21"/>
      <p:boldItalic r:id="rId22"/>
    </p:embeddedFont>
    <p:embeddedFont>
      <p:font typeface="Plus Jakarta Sans" pitchFamily="2" charset="77"/>
      <p:regular r:id="rId23"/>
      <p:bold r:id="rId24"/>
      <p:italic r:id="rId25"/>
      <p:boldItalic r:id="rId26"/>
    </p:embeddedFont>
    <p:embeddedFont>
      <p:font typeface="Plus Jakarta Sans ExtraBold" pitchFamily="2" charset="77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A3B8"/>
    <a:srgbClr val="E33D6F"/>
    <a:srgbClr val="D99694"/>
    <a:srgbClr val="5F1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68"/>
    <p:restoredTop sz="94733"/>
  </p:normalViewPr>
  <p:slideViewPr>
    <p:cSldViewPr snapToGrid="0">
      <p:cViewPr varScale="1">
        <p:scale>
          <a:sx n="110" d="100"/>
          <a:sy n="110" d="100"/>
        </p:scale>
        <p:origin x="912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>
          <a:extLst>
            <a:ext uri="{FF2B5EF4-FFF2-40B4-BE49-F238E27FC236}">
              <a16:creationId xmlns:a16="http://schemas.microsoft.com/office/drawing/2014/main" id="{774533FE-BE3C-CD09-2553-C7799DDB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>
            <a:extLst>
              <a:ext uri="{FF2B5EF4-FFF2-40B4-BE49-F238E27FC236}">
                <a16:creationId xmlns:a16="http://schemas.microsoft.com/office/drawing/2014/main" id="{90E6FE23-67D1-AECE-755A-DEE701A61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>
            <a:extLst>
              <a:ext uri="{FF2B5EF4-FFF2-40B4-BE49-F238E27FC236}">
                <a16:creationId xmlns:a16="http://schemas.microsoft.com/office/drawing/2014/main" id="{2BF9A095-1962-3ED0-B427-FA71F5A424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95868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>
          <a:extLst>
            <a:ext uri="{FF2B5EF4-FFF2-40B4-BE49-F238E27FC236}">
              <a16:creationId xmlns:a16="http://schemas.microsoft.com/office/drawing/2014/main" id="{EF06DBC1-96F7-D00E-FEF6-489348D57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>
            <a:extLst>
              <a:ext uri="{FF2B5EF4-FFF2-40B4-BE49-F238E27FC236}">
                <a16:creationId xmlns:a16="http://schemas.microsoft.com/office/drawing/2014/main" id="{163BCB6C-B9BE-C675-34CD-7459ABE2C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>
            <a:extLst>
              <a:ext uri="{FF2B5EF4-FFF2-40B4-BE49-F238E27FC236}">
                <a16:creationId xmlns:a16="http://schemas.microsoft.com/office/drawing/2014/main" id="{BAC9A1E5-99A1-D7DC-7BEF-470FF689A8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9514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999A8A0D-A4B4-5A52-2A49-624BD5EBC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E41F0DD1-1AC1-B1F1-AE7F-F2D74AF46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AA7C7281-1363-94B6-E8D7-A9943F7A8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06961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77F061-B5EC-5DC5-1A14-30C04888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>
            <a:extLst>
              <a:ext uri="{FF2B5EF4-FFF2-40B4-BE49-F238E27FC236}">
                <a16:creationId xmlns:a16="http://schemas.microsoft.com/office/drawing/2014/main" id="{F388EA35-752A-C0ED-734B-DB182951A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>
            <a:extLst>
              <a:ext uri="{FF2B5EF4-FFF2-40B4-BE49-F238E27FC236}">
                <a16:creationId xmlns:a16="http://schemas.microsoft.com/office/drawing/2014/main" id="{AA129256-BC34-DBDE-ECCC-D55E169FE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4187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80285A88-7EA0-17F9-05F1-8377B78B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>
            <a:extLst>
              <a:ext uri="{FF2B5EF4-FFF2-40B4-BE49-F238E27FC236}">
                <a16:creationId xmlns:a16="http://schemas.microsoft.com/office/drawing/2014/main" id="{F24590C0-3719-799B-29D1-195BEE0D3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>
            <a:extLst>
              <a:ext uri="{FF2B5EF4-FFF2-40B4-BE49-F238E27FC236}">
                <a16:creationId xmlns:a16="http://schemas.microsoft.com/office/drawing/2014/main" id="{0C735950-CF05-8582-EA91-3D0D3E2DC6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2883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571500" y="1552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C4899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CPT LOCARNO • MODULO 306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838325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StudySpace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943225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per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l'assistenza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allo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studio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19150" y="4410075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Sviluppatori: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19150" y="4924425"/>
            <a:ext cx="2924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Elisa Negri &amp; Julie Gambale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752975" y="4410075"/>
            <a:ext cx="30765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Data: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752975" y="4924425"/>
            <a:ext cx="3076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Anno Scolastico 2024/2025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365408" y="2881312"/>
            <a:ext cx="9461182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 &amp; Mandato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90675" y="4033837"/>
            <a:ext cx="90106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Contesto formativo e obiettivi del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3759994" y="5940251"/>
            <a:ext cx="474181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In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coordinamento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con il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Docente</a:t>
            </a:r>
            <a:r>
              <a:rPr lang="en-US" sz="1500" b="1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Bizzarri e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Krähenbühl</a:t>
            </a:r>
            <a:endParaRPr sz="1500"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962025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Pianificazione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Sviluppo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strutturato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tramite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la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metodologia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HERMES 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gestione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rigorosa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delle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scadenze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47403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Collaborazione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740324" y="35814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Lavoro in team coordinando responsabilità e dinamiche reali di un gruppo di sviluppo.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6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Esecuzione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18624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Applicazione di tecnologie moderne per produrre un applicativo funzionante e documentato.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124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Obiettivi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Formativi</a:t>
            </a:r>
            <a:endParaRPr dirty="0"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Apple Symbols" panose="02000000000000000000" pitchFamily="2" charset="-79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Metodologia HERMES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ombo 2">
            <a:extLst>
              <a:ext uri="{FF2B5EF4-FFF2-40B4-BE49-F238E27FC236}">
                <a16:creationId xmlns:a16="http://schemas.microsoft.com/office/drawing/2014/main" id="{84E476ED-169E-C9CF-B075-E61BFD46CD71}"/>
              </a:ext>
            </a:extLst>
          </p:cNvPr>
          <p:cNvSpPr/>
          <p:nvPr/>
        </p:nvSpPr>
        <p:spPr>
          <a:xfrm>
            <a:off x="1301824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3" name="Rettangolo 3">
            <a:hlinkClick r:id="rId3" action="ppaction://hlinksldjump"/>
            <a:extLst>
              <a:ext uri="{FF2B5EF4-FFF2-40B4-BE49-F238E27FC236}">
                <a16:creationId xmlns:a16="http://schemas.microsoft.com/office/drawing/2014/main" id="{C104C35C-2938-D3D9-FCDF-D558F6C3CE51}"/>
              </a:ext>
            </a:extLst>
          </p:cNvPr>
          <p:cNvSpPr/>
          <p:nvPr/>
        </p:nvSpPr>
        <p:spPr>
          <a:xfrm>
            <a:off x="1754813" y="3555686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Avvio</a:t>
            </a:r>
            <a:r>
              <a:rPr lang="it-CH"/>
              <a:t> </a:t>
            </a:r>
          </a:p>
        </p:txBody>
      </p:sp>
      <p:sp>
        <p:nvSpPr>
          <p:cNvPr id="4" name="Rettangolo 7">
            <a:extLst>
              <a:ext uri="{FF2B5EF4-FFF2-40B4-BE49-F238E27FC236}">
                <a16:creationId xmlns:a16="http://schemas.microsoft.com/office/drawing/2014/main" id="{75683E97-5D4A-2DD6-234A-B1C23226B7CE}"/>
              </a:ext>
            </a:extLst>
          </p:cNvPr>
          <p:cNvSpPr/>
          <p:nvPr/>
        </p:nvSpPr>
        <p:spPr>
          <a:xfrm>
            <a:off x="4014805" y="3555687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 dirty="0"/>
              <a:t>Concezione</a:t>
            </a:r>
          </a:p>
        </p:txBody>
      </p:sp>
      <p:sp>
        <p:nvSpPr>
          <p:cNvPr id="5" name="Rettangolo 8">
            <a:extLst>
              <a:ext uri="{FF2B5EF4-FFF2-40B4-BE49-F238E27FC236}">
                <a16:creationId xmlns:a16="http://schemas.microsoft.com/office/drawing/2014/main" id="{AB0A9ADF-C5F3-41D7-9665-438BCC2615C2}"/>
              </a:ext>
            </a:extLst>
          </p:cNvPr>
          <p:cNvSpPr/>
          <p:nvPr/>
        </p:nvSpPr>
        <p:spPr>
          <a:xfrm>
            <a:off x="6274797" y="3555686"/>
            <a:ext cx="1709669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Realizzazione</a:t>
            </a:r>
          </a:p>
        </p:txBody>
      </p:sp>
      <p:sp>
        <p:nvSpPr>
          <p:cNvPr id="6" name="Rettangolo 10">
            <a:extLst>
              <a:ext uri="{FF2B5EF4-FFF2-40B4-BE49-F238E27FC236}">
                <a16:creationId xmlns:a16="http://schemas.microsoft.com/office/drawing/2014/main" id="{FB874150-4D4E-D4A4-1870-F34F127F881D}"/>
              </a:ext>
            </a:extLst>
          </p:cNvPr>
          <p:cNvSpPr/>
          <p:nvPr/>
        </p:nvSpPr>
        <p:spPr>
          <a:xfrm>
            <a:off x="8534789" y="3555685"/>
            <a:ext cx="1709667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Introduzione</a:t>
            </a:r>
          </a:p>
        </p:txBody>
      </p:sp>
      <p:cxnSp>
        <p:nvCxnSpPr>
          <p:cNvPr id="7" name="Connettore 2 13">
            <a:extLst>
              <a:ext uri="{FF2B5EF4-FFF2-40B4-BE49-F238E27FC236}">
                <a16:creationId xmlns:a16="http://schemas.microsoft.com/office/drawing/2014/main" id="{D08FBDEB-3004-791E-F79E-CE13971B5176}"/>
              </a:ext>
            </a:extLst>
          </p:cNvPr>
          <p:cNvCxnSpPr/>
          <p:nvPr/>
        </p:nvCxnSpPr>
        <p:spPr>
          <a:xfrm>
            <a:off x="1480066" y="3137256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20">
            <a:extLst>
              <a:ext uri="{FF2B5EF4-FFF2-40B4-BE49-F238E27FC236}">
                <a16:creationId xmlns:a16="http://schemas.microsoft.com/office/drawing/2014/main" id="{C0A478CF-BF64-CD6F-F3DE-5E9D96D62A67}"/>
              </a:ext>
            </a:extLst>
          </p:cNvPr>
          <p:cNvCxnSpPr/>
          <p:nvPr/>
        </p:nvCxnSpPr>
        <p:spPr>
          <a:xfrm>
            <a:off x="10519203" y="3137257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21">
            <a:extLst>
              <a:ext uri="{FF2B5EF4-FFF2-40B4-BE49-F238E27FC236}">
                <a16:creationId xmlns:a16="http://schemas.microsoft.com/office/drawing/2014/main" id="{57F2B8C0-D4AF-1258-0570-3DAC4AED738A}"/>
              </a:ext>
            </a:extLst>
          </p:cNvPr>
          <p:cNvSpPr txBox="1"/>
          <p:nvPr/>
        </p:nvSpPr>
        <p:spPr>
          <a:xfrm>
            <a:off x="809625" y="2425327"/>
            <a:ext cx="134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Mandato per l’avvio del progetto</a:t>
            </a:r>
          </a:p>
        </p:txBody>
      </p:sp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4C7A603C-BAD2-42C6-BE7B-16AA1E75097A}"/>
              </a:ext>
            </a:extLst>
          </p:cNvPr>
          <p:cNvSpPr txBox="1"/>
          <p:nvPr/>
        </p:nvSpPr>
        <p:spPr>
          <a:xfrm>
            <a:off x="9915051" y="2609993"/>
            <a:ext cx="11742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Chiusura del progetto</a:t>
            </a:r>
          </a:p>
        </p:txBody>
      </p:sp>
      <p:sp>
        <p:nvSpPr>
          <p:cNvPr id="11" name="Rombo 26">
            <a:extLst>
              <a:ext uri="{FF2B5EF4-FFF2-40B4-BE49-F238E27FC236}">
                <a16:creationId xmlns:a16="http://schemas.microsoft.com/office/drawing/2014/main" id="{F8773621-6726-0223-0FCE-326E7B6DF09A}"/>
              </a:ext>
            </a:extLst>
          </p:cNvPr>
          <p:cNvSpPr/>
          <p:nvPr/>
        </p:nvSpPr>
        <p:spPr>
          <a:xfrm>
            <a:off x="3561816" y="355867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2" name="Rombo 27">
            <a:extLst>
              <a:ext uri="{FF2B5EF4-FFF2-40B4-BE49-F238E27FC236}">
                <a16:creationId xmlns:a16="http://schemas.microsoft.com/office/drawing/2014/main" id="{D4138E3A-B974-8A66-2A4A-AF4934C98B88}"/>
              </a:ext>
            </a:extLst>
          </p:cNvPr>
          <p:cNvSpPr/>
          <p:nvPr/>
        </p:nvSpPr>
        <p:spPr>
          <a:xfrm>
            <a:off x="5821808" y="3555686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3" name="Rombo 28">
            <a:extLst>
              <a:ext uri="{FF2B5EF4-FFF2-40B4-BE49-F238E27FC236}">
                <a16:creationId xmlns:a16="http://schemas.microsoft.com/office/drawing/2014/main" id="{1B220C28-3F2F-96A7-FBF1-20F4EEB00958}"/>
              </a:ext>
            </a:extLst>
          </p:cNvPr>
          <p:cNvSpPr/>
          <p:nvPr/>
        </p:nvSpPr>
        <p:spPr>
          <a:xfrm>
            <a:off x="8081800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4" name="Rombo 30">
            <a:extLst>
              <a:ext uri="{FF2B5EF4-FFF2-40B4-BE49-F238E27FC236}">
                <a16:creationId xmlns:a16="http://schemas.microsoft.com/office/drawing/2014/main" id="{1ED1B586-1988-E85B-59A4-0B9252424080}"/>
              </a:ext>
            </a:extLst>
          </p:cNvPr>
          <p:cNvSpPr/>
          <p:nvPr/>
        </p:nvSpPr>
        <p:spPr>
          <a:xfrm>
            <a:off x="10340961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/>
          <p:nvPr/>
        </p:nvSpPr>
        <p:spPr>
          <a:xfrm>
            <a:off x="571500" y="2005012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Analisi dei Rischi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435768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Visione Progetto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4929187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Creare un assistente digitale per studenti con timer, task management e supporto AI.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000125" y="252888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Linguaggio: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Necessità di apprendere il linguaggio durante lo sviluppo.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1000125" y="334803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Tempo: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Scadenza fissa con moduli complessi (AI).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Fase 1: Avvio e Rischi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252888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348037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CB3537BB-382C-CF88-5187-CFF3F7103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A953CDBB-122C-568C-C91A-A9AD4F9EA6A6}"/>
              </a:ext>
            </a:extLst>
          </p:cNvPr>
          <p:cNvSpPr txBox="1"/>
          <p:nvPr/>
        </p:nvSpPr>
        <p:spPr>
          <a:xfrm>
            <a:off x="809625" y="571500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Concezione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(to do list)</a:t>
            </a:r>
            <a:endParaRPr dirty="0"/>
          </a:p>
        </p:txBody>
      </p:sp>
      <p:sp>
        <p:nvSpPr>
          <p:cNvPr id="164" name="Google Shape;164;p18">
            <a:extLst>
              <a:ext uri="{FF2B5EF4-FFF2-40B4-BE49-F238E27FC236}">
                <a16:creationId xmlns:a16="http://schemas.microsoft.com/office/drawing/2014/main" id="{FF05A7A4-86FE-B559-94CB-EBB6B9A1FA42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table with different names&#10;&#10;AI-generated content may be incorrect.">
            <a:extLst>
              <a:ext uri="{FF2B5EF4-FFF2-40B4-BE49-F238E27FC236}">
                <a16:creationId xmlns:a16="http://schemas.microsoft.com/office/drawing/2014/main" id="{717858A6-0EC8-827D-FB27-A01F643478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" t="3490" r="1776" b="4171"/>
          <a:stretch>
            <a:fillRect/>
          </a:stretch>
        </p:blipFill>
        <p:spPr>
          <a:xfrm>
            <a:off x="1369832" y="1152525"/>
            <a:ext cx="9452335" cy="542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207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32B01040-0091-382A-98B3-90BA8A467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EF737607-E0E3-4256-CB80-CD9E694CD6F7}"/>
              </a:ext>
            </a:extLst>
          </p:cNvPr>
          <p:cNvSpPr txBox="1"/>
          <p:nvPr/>
        </p:nvSpPr>
        <p:spPr>
          <a:xfrm>
            <a:off x="809625" y="571500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Concezione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(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Documentazione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)</a:t>
            </a:r>
            <a:endParaRPr dirty="0"/>
          </a:p>
        </p:txBody>
      </p:sp>
      <p:sp>
        <p:nvSpPr>
          <p:cNvPr id="164" name="Google Shape;164;p18">
            <a:extLst>
              <a:ext uri="{FF2B5EF4-FFF2-40B4-BE49-F238E27FC236}">
                <a16:creationId xmlns:a16="http://schemas.microsoft.com/office/drawing/2014/main" id="{F9148A2D-621E-0007-74D9-C082C70681CC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FAEF8-1FFB-5BC1-97D6-CDF8A614A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74" y="1578762"/>
            <a:ext cx="3452269" cy="44699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4F8243-CA7A-8BC3-F5E4-98129906C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799" y="1578762"/>
            <a:ext cx="3452269" cy="44699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8E022D-E238-FA2E-265D-9BB1160FF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225" y="1581965"/>
            <a:ext cx="3440401" cy="446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42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 txBox="1"/>
          <p:nvPr/>
        </p:nvSpPr>
        <p:spPr>
          <a:xfrm>
            <a:off x="809625" y="571500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Concezione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(Gantt)</a:t>
            </a:r>
            <a:endParaRPr dirty="0"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340A01-A6CE-C9D2-D530-4FAF57C7D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47733"/>
            <a:ext cx="10810544" cy="4637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1380410" y="2881312"/>
            <a:ext cx="943117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Progettazione UI: Figma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604962" y="4033837"/>
            <a:ext cx="89820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 disegno su carta al prototipo interattivo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/>
        </p:nvSpPr>
        <p:spPr>
          <a:xfrm>
            <a:off x="571500" y="4814887"/>
            <a:ext cx="34925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1: Bozza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Schizzi manuali per definire i flussi utente.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43497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2: Figma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Progettazione UI/UX ad alta fedeltà.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81280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3: Prototipo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Validazione della struttura dell'orario.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Iterazione del Design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2" name="Picture 8" descr="Pengertian Figma, Membahas Fitur dan Harga - TokoWeb.co">
            <a:extLst>
              <a:ext uri="{FF2B5EF4-FFF2-40B4-BE49-F238E27FC236}">
                <a16:creationId xmlns:a16="http://schemas.microsoft.com/office/drawing/2014/main" id="{2B6EDE24-DFF5-EC88-DE95-C94816A2C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05" r="14701"/>
          <a:stretch>
            <a:fillRect/>
          </a:stretch>
        </p:blipFill>
        <p:spPr bwMode="auto">
          <a:xfrm>
            <a:off x="4294520" y="1941565"/>
            <a:ext cx="3547828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38E2CE-3562-E780-0CFC-07A276BE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64" y="1966912"/>
            <a:ext cx="3007420" cy="26416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87BD25-22A9-2AA6-528A-083825CB69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82345"/>
            <a:ext cx="3249837" cy="26262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3315652" y="2881312"/>
            <a:ext cx="5560695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3448050" y="4033837"/>
            <a:ext cx="52959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Dallo studio al codice: lo sviluppo effettivo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962025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Timer Pomodoro</a:t>
            </a:r>
            <a:endParaRPr dirty="0"/>
          </a:p>
        </p:txBody>
      </p:sp>
      <p:sp>
        <p:nvSpPr>
          <p:cNvPr id="208" name="Google Shape;208;p22"/>
          <p:cNvSpPr txBox="1"/>
          <p:nvPr/>
        </p:nvSpPr>
        <p:spPr>
          <a:xfrm>
            <a:off x="962025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Gestione del tempo per sessioni di studio focalizzate e pause strutturate.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7403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Task Manager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7403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Organizzazione dei compiti e delle verifiche con priorità e scadenze.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5186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Flashcards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85186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Generazione automatica di schede studio basate sull'intelligenza artificiale.</a:t>
            </a:r>
            <a:endParaRPr/>
          </a:p>
        </p:txBody>
      </p:sp>
      <p:pic>
        <p:nvPicPr>
          <p:cNvPr id="213" name="Google Shape;21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2145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809625" y="523688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Implementate</a:t>
            </a:r>
            <a:endParaRPr dirty="0"/>
          </a:p>
        </p:txBody>
      </p:sp>
      <p:sp>
        <p:nvSpPr>
          <p:cNvPr id="217" name="Google Shape;217;p22"/>
          <p:cNvSpPr/>
          <p:nvPr/>
        </p:nvSpPr>
        <p:spPr>
          <a:xfrm>
            <a:off x="571500" y="523688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95776ACB-3996-47E9-F46A-A6A8A84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C48183C1-7871-ECBA-743A-C94CECF3933E}"/>
              </a:ext>
            </a:extLst>
          </p:cNvPr>
          <p:cNvSpPr txBox="1"/>
          <p:nvPr/>
        </p:nvSpPr>
        <p:spPr>
          <a:xfrm>
            <a:off x="809625" y="123825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 Implementate</a:t>
            </a:r>
            <a:endParaRPr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B7AAEEDE-0652-430B-D391-F0CEC30A3A7B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7AD59-D808-58F0-2FDF-5C6A8704D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974630"/>
            <a:ext cx="2415088" cy="5250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E5F3B4-A55D-9CE5-10DB-2118DF51B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660" y="974630"/>
            <a:ext cx="2415088" cy="5250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6C9DDC-21EC-7907-7F87-C79EAD5B4D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696" y="974629"/>
            <a:ext cx="2415089" cy="5250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658493-1C77-3314-D3A5-88866200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6731" y="974629"/>
            <a:ext cx="2415090" cy="525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5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1">
          <a:extLst>
            <a:ext uri="{FF2B5EF4-FFF2-40B4-BE49-F238E27FC236}">
              <a16:creationId xmlns:a16="http://schemas.microsoft.com/office/drawing/2014/main" id="{87467FB9-E574-C96A-796B-15F2CC74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3">
            <a:extLst>
              <a:ext uri="{FF2B5EF4-FFF2-40B4-BE49-F238E27FC236}">
                <a16:creationId xmlns:a16="http://schemas.microsoft.com/office/drawing/2014/main" id="{11D11BAA-68C7-E775-34EE-4343EB7FECC3}"/>
              </a:ext>
            </a:extLst>
          </p:cNvPr>
          <p:cNvSpPr txBox="1"/>
          <p:nvPr/>
        </p:nvSpPr>
        <p:spPr>
          <a:xfrm>
            <a:off x="57150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Punti Forti</a:t>
            </a:r>
            <a:endParaRPr/>
          </a:p>
        </p:txBody>
      </p:sp>
      <p:sp>
        <p:nvSpPr>
          <p:cNvPr id="224" name="Google Shape;224;p23">
            <a:extLst>
              <a:ext uri="{FF2B5EF4-FFF2-40B4-BE49-F238E27FC236}">
                <a16:creationId xmlns:a16="http://schemas.microsoft.com/office/drawing/2014/main" id="{950285CF-9974-1175-1C3E-D0AC80BD5D31}"/>
              </a:ext>
            </a:extLst>
          </p:cNvPr>
          <p:cNvSpPr txBox="1"/>
          <p:nvPr/>
        </p:nvSpPr>
        <p:spPr>
          <a:xfrm>
            <a:off x="638175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Migliorie Future</a:t>
            </a:r>
            <a:endParaRPr/>
          </a:p>
        </p:txBody>
      </p:sp>
      <p:sp>
        <p:nvSpPr>
          <p:cNvPr id="225" name="Google Shape;225;p23">
            <a:extLst>
              <a:ext uri="{FF2B5EF4-FFF2-40B4-BE49-F238E27FC236}">
                <a16:creationId xmlns:a16="http://schemas.microsoft.com/office/drawing/2014/main" id="{FCA70E68-48CD-9186-2CB6-EC8CB3370F82}"/>
              </a:ext>
            </a:extLst>
          </p:cNvPr>
          <p:cNvSpPr txBox="1"/>
          <p:nvPr/>
        </p:nvSpPr>
        <p:spPr>
          <a:xfrm>
            <a:off x="1000125" y="341471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Coordinamento team efficace.</a:t>
            </a:r>
            <a:endParaRPr/>
          </a:p>
        </p:txBody>
      </p:sp>
      <p:sp>
        <p:nvSpPr>
          <p:cNvPr id="226" name="Google Shape;226;p23">
            <a:extLst>
              <a:ext uri="{FF2B5EF4-FFF2-40B4-BE49-F238E27FC236}">
                <a16:creationId xmlns:a16="http://schemas.microsoft.com/office/drawing/2014/main" id="{EA6EC580-0CAF-25A0-231C-B209B1E72BF3}"/>
              </a:ext>
            </a:extLst>
          </p:cNvPr>
          <p:cNvSpPr txBox="1"/>
          <p:nvPr/>
        </p:nvSpPr>
        <p:spPr>
          <a:xfrm>
            <a:off x="1000125" y="391953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intuitivo e moderno.</a:t>
            </a:r>
            <a:endParaRPr/>
          </a:p>
        </p:txBody>
      </p:sp>
      <p:sp>
        <p:nvSpPr>
          <p:cNvPr id="227" name="Google Shape;227;p23">
            <a:extLst>
              <a:ext uri="{FF2B5EF4-FFF2-40B4-BE49-F238E27FC236}">
                <a16:creationId xmlns:a16="http://schemas.microsoft.com/office/drawing/2014/main" id="{257BF119-219B-BFAF-6BFA-6CB659EAB9F0}"/>
              </a:ext>
            </a:extLst>
          </p:cNvPr>
          <p:cNvSpPr txBox="1"/>
          <p:nvPr/>
        </p:nvSpPr>
        <p:spPr>
          <a:xfrm>
            <a:off x="1000125" y="442436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Integrazione AI funzionante.</a:t>
            </a:r>
            <a:endParaRPr/>
          </a:p>
        </p:txBody>
      </p:sp>
      <p:sp>
        <p:nvSpPr>
          <p:cNvPr id="228" name="Google Shape;228;p23">
            <a:extLst>
              <a:ext uri="{FF2B5EF4-FFF2-40B4-BE49-F238E27FC236}">
                <a16:creationId xmlns:a16="http://schemas.microsoft.com/office/drawing/2014/main" id="{373CD917-C365-C153-BB1A-9A3EEFF8A898}"/>
              </a:ext>
            </a:extLst>
          </p:cNvPr>
          <p:cNvSpPr txBox="1"/>
          <p:nvPr/>
        </p:nvSpPr>
        <p:spPr>
          <a:xfrm>
            <a:off x="6381750" y="34242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Sincronizzazione cloud.</a:t>
            </a:r>
            <a:endParaRPr/>
          </a:p>
        </p:txBody>
      </p:sp>
      <p:sp>
        <p:nvSpPr>
          <p:cNvPr id="229" name="Google Shape;229;p23">
            <a:extLst>
              <a:ext uri="{FF2B5EF4-FFF2-40B4-BE49-F238E27FC236}">
                <a16:creationId xmlns:a16="http://schemas.microsoft.com/office/drawing/2014/main" id="{DB3D21A5-1A50-6DD2-AC0D-C9FBF98CF2B8}"/>
              </a:ext>
            </a:extLst>
          </p:cNvPr>
          <p:cNvSpPr txBox="1"/>
          <p:nvPr/>
        </p:nvSpPr>
        <p:spPr>
          <a:xfrm>
            <a:off x="6381750" y="370998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Notifiche avanzate.</a:t>
            </a:r>
            <a:endParaRPr/>
          </a:p>
        </p:txBody>
      </p:sp>
      <p:sp>
        <p:nvSpPr>
          <p:cNvPr id="230" name="Google Shape;230;p23">
            <a:extLst>
              <a:ext uri="{FF2B5EF4-FFF2-40B4-BE49-F238E27FC236}">
                <a16:creationId xmlns:a16="http://schemas.microsoft.com/office/drawing/2014/main" id="{EF01D53A-B643-97A7-40FD-C913ED3EE07F}"/>
              </a:ext>
            </a:extLst>
          </p:cNvPr>
          <p:cNvSpPr txBox="1"/>
          <p:nvPr/>
        </p:nvSpPr>
        <p:spPr>
          <a:xfrm>
            <a:off x="6381750" y="39957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Gamification del timer.</a:t>
            </a:r>
            <a:endParaRPr/>
          </a:p>
        </p:txBody>
      </p:sp>
      <p:sp>
        <p:nvSpPr>
          <p:cNvPr id="231" name="Google Shape;231;p23">
            <a:extLst>
              <a:ext uri="{FF2B5EF4-FFF2-40B4-BE49-F238E27FC236}">
                <a16:creationId xmlns:a16="http://schemas.microsoft.com/office/drawing/2014/main" id="{0AAF8213-4D00-84C6-5387-1A51DE2584FE}"/>
              </a:ext>
            </a:extLst>
          </p:cNvPr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Valutazione e Chiusura</a:t>
            </a:r>
            <a:endParaRPr/>
          </a:p>
        </p:txBody>
      </p:sp>
      <p:sp>
        <p:nvSpPr>
          <p:cNvPr id="232" name="Google Shape;232;p23">
            <a:extLst>
              <a:ext uri="{FF2B5EF4-FFF2-40B4-BE49-F238E27FC236}">
                <a16:creationId xmlns:a16="http://schemas.microsoft.com/office/drawing/2014/main" id="{352232F6-3007-C319-A4E5-D3A2B476C6EF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3" descr="image.png">
            <a:extLst>
              <a:ext uri="{FF2B5EF4-FFF2-40B4-BE49-F238E27FC236}">
                <a16:creationId xmlns:a16="http://schemas.microsoft.com/office/drawing/2014/main" id="{6041A826-CECD-B07A-F0AB-333E63230AF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4147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>
            <a:extLst>
              <a:ext uri="{FF2B5EF4-FFF2-40B4-BE49-F238E27FC236}">
                <a16:creationId xmlns:a16="http://schemas.microsoft.com/office/drawing/2014/main" id="{DB351C6B-1C34-9C93-2E0B-6289F96C78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91953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>
            <a:extLst>
              <a:ext uri="{FF2B5EF4-FFF2-40B4-BE49-F238E27FC236}">
                <a16:creationId xmlns:a16="http://schemas.microsoft.com/office/drawing/2014/main" id="{EE56CBE5-6F58-6561-C154-61916BDFFA1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442436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>
            <a:extLst>
              <a:ext uri="{FF2B5EF4-FFF2-40B4-BE49-F238E27FC236}">
                <a16:creationId xmlns:a16="http://schemas.microsoft.com/office/drawing/2014/main" id="{078A164E-83AE-0CA4-4249-FAA16321F8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476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>
            <a:extLst>
              <a:ext uri="{FF2B5EF4-FFF2-40B4-BE49-F238E27FC236}">
                <a16:creationId xmlns:a16="http://schemas.microsoft.com/office/drawing/2014/main" id="{1F652C51-B119-CF61-DFDB-4F6ED155C8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7623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>
            <a:extLst>
              <a:ext uri="{FF2B5EF4-FFF2-40B4-BE49-F238E27FC236}">
                <a16:creationId xmlns:a16="http://schemas.microsoft.com/office/drawing/2014/main" id="{7714A1C7-6BC5-A8AA-FD10-D965F163A9A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4048125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490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>
          <a:extLst>
            <a:ext uri="{FF2B5EF4-FFF2-40B4-BE49-F238E27FC236}">
              <a16:creationId xmlns:a16="http://schemas.microsoft.com/office/drawing/2014/main" id="{79201E25-BE62-9E10-F167-3B72629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>
            <a:extLst>
              <a:ext uri="{FF2B5EF4-FFF2-40B4-BE49-F238E27FC236}">
                <a16:creationId xmlns:a16="http://schemas.microsoft.com/office/drawing/2014/main" id="{270F3F0B-DF1C-B356-C12D-50A78887C685}"/>
              </a:ext>
            </a:extLst>
          </p:cNvPr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>
            <a:extLst>
              <a:ext uri="{FF2B5EF4-FFF2-40B4-BE49-F238E27FC236}">
                <a16:creationId xmlns:a16="http://schemas.microsoft.com/office/drawing/2014/main" id="{496053D0-9CAE-D678-3FD2-A2E7206ED1FA}"/>
              </a:ext>
            </a:extLst>
          </p:cNvPr>
          <p:cNvSpPr txBox="1"/>
          <p:nvPr/>
        </p:nvSpPr>
        <p:spPr>
          <a:xfrm>
            <a:off x="3315652" y="2881312"/>
            <a:ext cx="556069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 dirty="0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Demo</a:t>
            </a:r>
            <a:endParaRPr dirty="0"/>
          </a:p>
        </p:txBody>
      </p:sp>
      <p:sp>
        <p:nvSpPr>
          <p:cNvPr id="196" name="Google Shape;196;p21">
            <a:extLst>
              <a:ext uri="{FF2B5EF4-FFF2-40B4-BE49-F238E27FC236}">
                <a16:creationId xmlns:a16="http://schemas.microsoft.com/office/drawing/2014/main" id="{F67367C3-A5E9-9D46-3AD3-06B0D9DD7957}"/>
              </a:ext>
            </a:extLst>
          </p:cNvPr>
          <p:cNvSpPr txBox="1"/>
          <p:nvPr/>
        </p:nvSpPr>
        <p:spPr>
          <a:xfrm>
            <a:off x="3448050" y="4033837"/>
            <a:ext cx="52959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piccolo tour della nostra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79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2375" y="3910012"/>
            <a:ext cx="4667250" cy="119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62375" y="1604962"/>
            <a:ext cx="6477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4"/>
          <p:cNvSpPr txBox="1"/>
          <p:nvPr/>
        </p:nvSpPr>
        <p:spPr>
          <a:xfrm>
            <a:off x="3762375" y="2462212"/>
            <a:ext cx="49006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Domande?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3762375" y="2938462"/>
            <a:ext cx="4900612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Grazie per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l'attenzione</a:t>
            </a:r>
            <a:endParaRPr dirty="0"/>
          </a:p>
        </p:txBody>
      </p:sp>
      <p:sp>
        <p:nvSpPr>
          <p:cNvPr id="248" name="Google Shape;248;p24"/>
          <p:cNvSpPr txBox="1"/>
          <p:nvPr/>
        </p:nvSpPr>
        <p:spPr>
          <a:xfrm>
            <a:off x="3762375" y="4395787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Elisa Negri &amp; Julie Gambale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3762375" y="4872037"/>
            <a:ext cx="46672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CPT Locarno | Modulo 306 | 2025-2026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316</Words>
  <Application>Microsoft Macintosh PowerPoint</Application>
  <PresentationFormat>Widescreen</PresentationFormat>
  <Paragraphs>64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Plus Jakarta Sans ExtraBold</vt:lpstr>
      <vt:lpstr>Arial</vt:lpstr>
      <vt:lpstr>JetBrains Mono</vt:lpstr>
      <vt:lpstr>Plus Jakarta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xos319</cp:lastModifiedBy>
  <cp:revision>8</cp:revision>
  <dcterms:modified xsi:type="dcterms:W3CDTF">2026-06-08T19:19:32Z</dcterms:modified>
</cp:coreProperties>
</file>