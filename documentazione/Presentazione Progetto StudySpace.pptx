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9" r:id="rId13"/>
    <p:sldId id="271" r:id="rId14"/>
    <p:sldId id="267" r:id="rId15"/>
  </p:sldIdLst>
  <p:sldSz cx="12192000" cy="6858000"/>
  <p:notesSz cx="6858000" cy="9144000"/>
  <p:embeddedFontLst>
    <p:embeddedFont>
      <p:font typeface="JetBrains Mono" panose="02000009000000000000" pitchFamily="49" charset="0"/>
      <p:regular r:id="rId17"/>
      <p:bold r:id="rId18"/>
      <p:italic r:id="rId19"/>
      <p:boldItalic r:id="rId20"/>
    </p:embeddedFont>
    <p:embeddedFont>
      <p:font typeface="Plus Jakarta Sans" pitchFamily="2" charset="77"/>
      <p:regular r:id="rId21"/>
      <p:bold r:id="rId22"/>
      <p:italic r:id="rId23"/>
      <p:boldItalic r:id="rId24"/>
    </p:embeddedFont>
    <p:embeddedFont>
      <p:font typeface="Plus Jakarta Sans ExtraBold" pitchFamily="2" charset="77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3D6F"/>
    <a:srgbClr val="D99694"/>
    <a:srgbClr val="5F1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1"/>
    <p:restoredTop sz="94691"/>
  </p:normalViewPr>
  <p:slideViewPr>
    <p:cSldViewPr snapToGrid="0">
      <p:cViewPr varScale="1">
        <p:scale>
          <a:sx n="213" d="100"/>
          <a:sy n="213" d="100"/>
        </p:scale>
        <p:origin x="9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99A8A0D-A4B4-5A52-2A49-624BD5EB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E41F0DD1-1AC1-B1F1-AE7F-F2D74AF46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AA7C7281-1363-94B6-E8D7-A9943F7A8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696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8377F061-B5EC-5DC5-1A14-30C04888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>
            <a:extLst>
              <a:ext uri="{FF2B5EF4-FFF2-40B4-BE49-F238E27FC236}">
                <a16:creationId xmlns:a16="http://schemas.microsoft.com/office/drawing/2014/main" id="{F388EA35-752A-C0ED-734B-DB182951A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>
            <a:extLst>
              <a:ext uri="{FF2B5EF4-FFF2-40B4-BE49-F238E27FC236}">
                <a16:creationId xmlns:a16="http://schemas.microsoft.com/office/drawing/2014/main" id="{AA129256-BC34-DBDE-ECCC-D55E169FE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418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80285A88-7EA0-17F9-05F1-8377B78B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F24590C0-3719-799B-29D1-195BEE0D3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>
            <a:extLst>
              <a:ext uri="{FF2B5EF4-FFF2-40B4-BE49-F238E27FC236}">
                <a16:creationId xmlns:a16="http://schemas.microsoft.com/office/drawing/2014/main" id="{0C735950-CF05-8582-EA91-3D0D3E2DC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2883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5525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C489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CPT LOCARNO • MODULO 306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83832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StudySpace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943225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 per </a:t>
            </a:r>
            <a:r>
              <a:rPr lang="en-US" sz="27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l'assistenza</a:t>
            </a: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allo</a:t>
            </a: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studio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19150" y="4410075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Sviluppatori: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19150" y="4924425"/>
            <a:ext cx="2924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Elisa Negri &amp; Julie Gambale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752975" y="4410075"/>
            <a:ext cx="3076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Data: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52975" y="4924425"/>
            <a:ext cx="3076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Anno Scolastico 2024/2025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65408" y="2881312"/>
            <a:ext cx="9461182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Introduzione &amp; Mandato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590675" y="4033837"/>
            <a:ext cx="901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Contesto formativo e obiettivi del progetto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252912" y="5686425"/>
            <a:ext cx="3686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coordinamento con il </a:t>
            </a:r>
            <a:r>
              <a:rPr lang="en-US" sz="1500" b="1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 Bizzarri</a:t>
            </a:r>
            <a:r>
              <a:rPr lang="en-US" sz="1500" b="0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Pianificazione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3581400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Sviluppo strutturato tramite la metodologia HERMES e gestione rigorosa delle scadenze.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740324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Collaborazione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0324" y="3581400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Lavoro in team coordinando responsabilità e dinamiche reali di un gruppo di sviluppo.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18624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Esecuzione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18624" y="3581400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Applicazione di tecnologie moderne per produrre un applicativo funzionante e documentato.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1240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124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1240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Obiettivi Formativi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Metodologia HERMES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ombo 2">
            <a:extLst>
              <a:ext uri="{FF2B5EF4-FFF2-40B4-BE49-F238E27FC236}">
                <a16:creationId xmlns:a16="http://schemas.microsoft.com/office/drawing/2014/main" id="{84E476ED-169E-C9CF-B075-E61BFD46CD71}"/>
              </a:ext>
            </a:extLst>
          </p:cNvPr>
          <p:cNvSpPr/>
          <p:nvPr/>
        </p:nvSpPr>
        <p:spPr>
          <a:xfrm>
            <a:off x="1301824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3" name="Rettangolo 3">
            <a:hlinkClick r:id="rId4" action="ppaction://hlinksldjump"/>
            <a:extLst>
              <a:ext uri="{FF2B5EF4-FFF2-40B4-BE49-F238E27FC236}">
                <a16:creationId xmlns:a16="http://schemas.microsoft.com/office/drawing/2014/main" id="{C104C35C-2938-D3D9-FCDF-D558F6C3CE51}"/>
              </a:ext>
            </a:extLst>
          </p:cNvPr>
          <p:cNvSpPr/>
          <p:nvPr/>
        </p:nvSpPr>
        <p:spPr>
          <a:xfrm>
            <a:off x="1754813" y="3555686"/>
            <a:ext cx="1710498" cy="3558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Avvio</a:t>
            </a:r>
            <a:r>
              <a:rPr lang="it-CH"/>
              <a:t> </a:t>
            </a:r>
          </a:p>
        </p:txBody>
      </p:sp>
      <p:sp>
        <p:nvSpPr>
          <p:cNvPr id="4" name="Rettangolo 7">
            <a:extLst>
              <a:ext uri="{FF2B5EF4-FFF2-40B4-BE49-F238E27FC236}">
                <a16:creationId xmlns:a16="http://schemas.microsoft.com/office/drawing/2014/main" id="{75683E97-5D4A-2DD6-234A-B1C23226B7CE}"/>
              </a:ext>
            </a:extLst>
          </p:cNvPr>
          <p:cNvSpPr/>
          <p:nvPr/>
        </p:nvSpPr>
        <p:spPr>
          <a:xfrm>
            <a:off x="4014805" y="3555687"/>
            <a:ext cx="1710498" cy="3558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Concezione</a:t>
            </a:r>
          </a:p>
        </p:txBody>
      </p:sp>
      <p:sp>
        <p:nvSpPr>
          <p:cNvPr id="5" name="Rettangolo 8">
            <a:extLst>
              <a:ext uri="{FF2B5EF4-FFF2-40B4-BE49-F238E27FC236}">
                <a16:creationId xmlns:a16="http://schemas.microsoft.com/office/drawing/2014/main" id="{AB0A9ADF-C5F3-41D7-9665-438BCC2615C2}"/>
              </a:ext>
            </a:extLst>
          </p:cNvPr>
          <p:cNvSpPr/>
          <p:nvPr/>
        </p:nvSpPr>
        <p:spPr>
          <a:xfrm>
            <a:off x="6274797" y="3555686"/>
            <a:ext cx="1709669" cy="3558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Realizzazione</a:t>
            </a:r>
          </a:p>
        </p:txBody>
      </p:sp>
      <p:sp>
        <p:nvSpPr>
          <p:cNvPr id="6" name="Rettangolo 10">
            <a:extLst>
              <a:ext uri="{FF2B5EF4-FFF2-40B4-BE49-F238E27FC236}">
                <a16:creationId xmlns:a16="http://schemas.microsoft.com/office/drawing/2014/main" id="{FB874150-4D4E-D4A4-1870-F34F127F881D}"/>
              </a:ext>
            </a:extLst>
          </p:cNvPr>
          <p:cNvSpPr/>
          <p:nvPr/>
        </p:nvSpPr>
        <p:spPr>
          <a:xfrm>
            <a:off x="8534789" y="3555685"/>
            <a:ext cx="1709667" cy="3558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Introduzione</a:t>
            </a:r>
          </a:p>
        </p:txBody>
      </p:sp>
      <p:cxnSp>
        <p:nvCxnSpPr>
          <p:cNvPr id="7" name="Connettore 2 13">
            <a:extLst>
              <a:ext uri="{FF2B5EF4-FFF2-40B4-BE49-F238E27FC236}">
                <a16:creationId xmlns:a16="http://schemas.microsoft.com/office/drawing/2014/main" id="{D08FBDEB-3004-791E-F79E-CE13971B5176}"/>
              </a:ext>
            </a:extLst>
          </p:cNvPr>
          <p:cNvCxnSpPr/>
          <p:nvPr/>
        </p:nvCxnSpPr>
        <p:spPr>
          <a:xfrm>
            <a:off x="1480066" y="3137256"/>
            <a:ext cx="0" cy="355821"/>
          </a:xfrm>
          <a:prstGeom prst="straightConnector1">
            <a:avLst/>
          </a:prstGeom>
          <a:ln w="28575">
            <a:solidFill>
              <a:srgbClr val="5F1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20">
            <a:extLst>
              <a:ext uri="{FF2B5EF4-FFF2-40B4-BE49-F238E27FC236}">
                <a16:creationId xmlns:a16="http://schemas.microsoft.com/office/drawing/2014/main" id="{C0A478CF-BF64-CD6F-F3DE-5E9D96D62A67}"/>
              </a:ext>
            </a:extLst>
          </p:cNvPr>
          <p:cNvCxnSpPr/>
          <p:nvPr/>
        </p:nvCxnSpPr>
        <p:spPr>
          <a:xfrm>
            <a:off x="10519203" y="3137257"/>
            <a:ext cx="0" cy="355821"/>
          </a:xfrm>
          <a:prstGeom prst="straightConnector1">
            <a:avLst/>
          </a:prstGeom>
          <a:ln w="28575">
            <a:solidFill>
              <a:srgbClr val="5F1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21">
            <a:extLst>
              <a:ext uri="{FF2B5EF4-FFF2-40B4-BE49-F238E27FC236}">
                <a16:creationId xmlns:a16="http://schemas.microsoft.com/office/drawing/2014/main" id="{57F2B8C0-D4AF-1258-0570-3DAC4AED738A}"/>
              </a:ext>
            </a:extLst>
          </p:cNvPr>
          <p:cNvSpPr txBox="1"/>
          <p:nvPr/>
        </p:nvSpPr>
        <p:spPr>
          <a:xfrm>
            <a:off x="809625" y="2425327"/>
            <a:ext cx="1340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CH" sz="1200" dirty="0">
                <a:solidFill>
                  <a:schemeClr val="bg1"/>
                </a:solidFill>
              </a:rPr>
              <a:t>Mandato per l’avvio del progetto</a:t>
            </a:r>
          </a:p>
        </p:txBody>
      </p:sp>
      <p:sp>
        <p:nvSpPr>
          <p:cNvPr id="10" name="CasellaDiTesto 25">
            <a:extLst>
              <a:ext uri="{FF2B5EF4-FFF2-40B4-BE49-F238E27FC236}">
                <a16:creationId xmlns:a16="http://schemas.microsoft.com/office/drawing/2014/main" id="{4C7A603C-BAD2-42C6-BE7B-16AA1E75097A}"/>
              </a:ext>
            </a:extLst>
          </p:cNvPr>
          <p:cNvSpPr txBox="1"/>
          <p:nvPr/>
        </p:nvSpPr>
        <p:spPr>
          <a:xfrm>
            <a:off x="9915051" y="2609993"/>
            <a:ext cx="117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CH" sz="1200" dirty="0">
                <a:solidFill>
                  <a:schemeClr val="bg1"/>
                </a:solidFill>
              </a:rPr>
              <a:t>Chiusura del progetto</a:t>
            </a:r>
          </a:p>
        </p:txBody>
      </p:sp>
      <p:sp>
        <p:nvSpPr>
          <p:cNvPr id="11" name="Rombo 26">
            <a:extLst>
              <a:ext uri="{FF2B5EF4-FFF2-40B4-BE49-F238E27FC236}">
                <a16:creationId xmlns:a16="http://schemas.microsoft.com/office/drawing/2014/main" id="{F8773621-6726-0223-0FCE-326E7B6DF09A}"/>
              </a:ext>
            </a:extLst>
          </p:cNvPr>
          <p:cNvSpPr/>
          <p:nvPr/>
        </p:nvSpPr>
        <p:spPr>
          <a:xfrm>
            <a:off x="3561816" y="355867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2" name="Rombo 27">
            <a:extLst>
              <a:ext uri="{FF2B5EF4-FFF2-40B4-BE49-F238E27FC236}">
                <a16:creationId xmlns:a16="http://schemas.microsoft.com/office/drawing/2014/main" id="{D4138E3A-B974-8A66-2A4A-AF4934C98B88}"/>
              </a:ext>
            </a:extLst>
          </p:cNvPr>
          <p:cNvSpPr/>
          <p:nvPr/>
        </p:nvSpPr>
        <p:spPr>
          <a:xfrm>
            <a:off x="5821808" y="3555686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3" name="Rombo 28">
            <a:extLst>
              <a:ext uri="{FF2B5EF4-FFF2-40B4-BE49-F238E27FC236}">
                <a16:creationId xmlns:a16="http://schemas.microsoft.com/office/drawing/2014/main" id="{1B220C28-3F2F-96A7-FBF1-20F4EEB00958}"/>
              </a:ext>
            </a:extLst>
          </p:cNvPr>
          <p:cNvSpPr/>
          <p:nvPr/>
        </p:nvSpPr>
        <p:spPr>
          <a:xfrm>
            <a:off x="8081800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4" name="Rombo 30">
            <a:extLst>
              <a:ext uri="{FF2B5EF4-FFF2-40B4-BE49-F238E27FC236}">
                <a16:creationId xmlns:a16="http://schemas.microsoft.com/office/drawing/2014/main" id="{1ED1B586-1988-E85B-59A4-0B9252424080}"/>
              </a:ext>
            </a:extLst>
          </p:cNvPr>
          <p:cNvSpPr/>
          <p:nvPr/>
        </p:nvSpPr>
        <p:spPr>
          <a:xfrm>
            <a:off x="10340961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2005012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Analisi dei Rischi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35768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Visione Progetto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49291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Creare un assistente digitale per studenti con timer, task management e supporto AI.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00125" y="252888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Linguaggio: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Necessità di apprendere il linguaggio durante lo sviluppo.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0125" y="334803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Scadenza fissa con moduli complessi (AI).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Fase 1: Avvio e Rischi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288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34803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Pianificazione (Gantt)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40A01-A6CE-C9D2-D530-4FAF57C7D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733"/>
            <a:ext cx="10810544" cy="4637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380410" y="2881312"/>
            <a:ext cx="9431178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Progettazione UI: Figma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604962" y="4033837"/>
            <a:ext cx="8982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 disegno su carta al prototipo interattivo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57387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57387"/>
            <a:ext cx="3492549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4814887"/>
            <a:ext cx="3492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Bozza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Schizzi manuali per definire i flussi utente.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349799" y="4814887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Figma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Progettazione UI/UX ad alta fedeltà.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128099" y="4814887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 Prototipo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Validazione della struttura dell'orario.</a:t>
            </a:r>
            <a:endParaRPr/>
          </a:p>
        </p:txBody>
      </p:sp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966912"/>
            <a:ext cx="347349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9324" y="1966912"/>
            <a:ext cx="347349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7624" y="1966912"/>
            <a:ext cx="3473499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Iterazione del Design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315652" y="2881312"/>
            <a:ext cx="5560695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Realizzazione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448050" y="4033837"/>
            <a:ext cx="52959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Dallo studio al codice: lo sviluppo effettivo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62025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Timer Pomodoro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962025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 del tempo per sessioni di studio focalizzate e pause strutturate.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740324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Task Manager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740324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Organizzazione dei compiti e delle verifiche con priorità e scadenze.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518624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Flashcards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18624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Generazione automatica di schede studio basate sull'intelligenza artificiale.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2145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809625" y="523688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Funzionalità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Implementate</a:t>
            </a:r>
            <a:endParaRPr dirty="0"/>
          </a:p>
        </p:txBody>
      </p:sp>
      <p:sp>
        <p:nvSpPr>
          <p:cNvPr id="217" name="Google Shape;217;p22"/>
          <p:cNvSpPr/>
          <p:nvPr/>
        </p:nvSpPr>
        <p:spPr>
          <a:xfrm>
            <a:off x="571500" y="523688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5776ACB-3996-47E9-F46A-A6A8A843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>
            <a:extLst>
              <a:ext uri="{FF2B5EF4-FFF2-40B4-BE49-F238E27FC236}">
                <a16:creationId xmlns:a16="http://schemas.microsoft.com/office/drawing/2014/main" id="{827B0ED2-0A6D-7821-F19A-5E6D0CDCB079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C48183C1-7871-ECBA-743A-C94CECF3933E}"/>
              </a:ext>
            </a:extLst>
          </p:cNvPr>
          <p:cNvSpPr txBox="1"/>
          <p:nvPr/>
        </p:nvSpPr>
        <p:spPr>
          <a:xfrm>
            <a:off x="809625" y="123825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Funzionalità Implementate</a:t>
            </a:r>
            <a:endParaRPr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B7AAEEDE-0652-430B-D391-F0CEC30A3A7B}"/>
              </a:ext>
            </a:extLst>
          </p:cNvPr>
          <p:cNvSpPr/>
          <p:nvPr/>
        </p:nvSpPr>
        <p:spPr>
          <a:xfrm>
            <a:off x="571500" y="123825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7AD59-D808-58F0-2FDF-5C6A8704D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974630"/>
            <a:ext cx="2415088" cy="5250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E5F3B4-A55D-9CE5-10DB-2118DF51B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8660" y="974630"/>
            <a:ext cx="2415088" cy="5250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6C9DDC-21EC-7907-7F87-C79EAD5B4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696" y="974629"/>
            <a:ext cx="2415089" cy="525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58493-1C77-3314-D3A5-88866200A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6731" y="974629"/>
            <a:ext cx="2415090" cy="52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7467FB9-E574-C96A-796B-15F2CC74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>
            <a:extLst>
              <a:ext uri="{FF2B5EF4-FFF2-40B4-BE49-F238E27FC236}">
                <a16:creationId xmlns:a16="http://schemas.microsoft.com/office/drawing/2014/main" id="{46CD1E8B-8645-FBD5-A8B2-D13C471B7E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>
            <a:extLst>
              <a:ext uri="{FF2B5EF4-FFF2-40B4-BE49-F238E27FC236}">
                <a16:creationId xmlns:a16="http://schemas.microsoft.com/office/drawing/2014/main" id="{11D11BAA-68C7-E775-34EE-4343EB7FECC3}"/>
              </a:ext>
            </a:extLst>
          </p:cNvPr>
          <p:cNvSpPr txBox="1"/>
          <p:nvPr/>
        </p:nvSpPr>
        <p:spPr>
          <a:xfrm>
            <a:off x="571500" y="289083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Punti Forti</a:t>
            </a:r>
            <a:endParaRPr/>
          </a:p>
        </p:txBody>
      </p:sp>
      <p:sp>
        <p:nvSpPr>
          <p:cNvPr id="224" name="Google Shape;224;p23">
            <a:extLst>
              <a:ext uri="{FF2B5EF4-FFF2-40B4-BE49-F238E27FC236}">
                <a16:creationId xmlns:a16="http://schemas.microsoft.com/office/drawing/2014/main" id="{950285CF-9974-1175-1C3E-D0AC80BD5D31}"/>
              </a:ext>
            </a:extLst>
          </p:cNvPr>
          <p:cNvSpPr txBox="1"/>
          <p:nvPr/>
        </p:nvSpPr>
        <p:spPr>
          <a:xfrm>
            <a:off x="6381750" y="289083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Migliorie Future</a:t>
            </a:r>
            <a:endParaRPr/>
          </a:p>
        </p:txBody>
      </p:sp>
      <p:sp>
        <p:nvSpPr>
          <p:cNvPr id="225" name="Google Shape;225;p23">
            <a:extLst>
              <a:ext uri="{FF2B5EF4-FFF2-40B4-BE49-F238E27FC236}">
                <a16:creationId xmlns:a16="http://schemas.microsoft.com/office/drawing/2014/main" id="{FCA70E68-48CD-9186-2CB6-EC8CB3370F82}"/>
              </a:ext>
            </a:extLst>
          </p:cNvPr>
          <p:cNvSpPr txBox="1"/>
          <p:nvPr/>
        </p:nvSpPr>
        <p:spPr>
          <a:xfrm>
            <a:off x="1000125" y="34147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Coordinamento team efficace.</a:t>
            </a:r>
            <a:endParaRPr/>
          </a:p>
        </p:txBody>
      </p:sp>
      <p:sp>
        <p:nvSpPr>
          <p:cNvPr id="226" name="Google Shape;226;p23">
            <a:extLst>
              <a:ext uri="{FF2B5EF4-FFF2-40B4-BE49-F238E27FC236}">
                <a16:creationId xmlns:a16="http://schemas.microsoft.com/office/drawing/2014/main" id="{EA6EC580-0CAF-25A0-231C-B209B1E72BF3}"/>
              </a:ext>
            </a:extLst>
          </p:cNvPr>
          <p:cNvSpPr txBox="1"/>
          <p:nvPr/>
        </p:nvSpPr>
        <p:spPr>
          <a:xfrm>
            <a:off x="1000125" y="391953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intuitivo e moderno.</a:t>
            </a:r>
            <a:endParaRPr/>
          </a:p>
        </p:txBody>
      </p:sp>
      <p:sp>
        <p:nvSpPr>
          <p:cNvPr id="227" name="Google Shape;227;p23">
            <a:extLst>
              <a:ext uri="{FF2B5EF4-FFF2-40B4-BE49-F238E27FC236}">
                <a16:creationId xmlns:a16="http://schemas.microsoft.com/office/drawing/2014/main" id="{257BF119-219B-BFAF-6BFA-6CB659EAB9F0}"/>
              </a:ext>
            </a:extLst>
          </p:cNvPr>
          <p:cNvSpPr txBox="1"/>
          <p:nvPr/>
        </p:nvSpPr>
        <p:spPr>
          <a:xfrm>
            <a:off x="1000125" y="44243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Integrazione AI funzionante.</a:t>
            </a:r>
            <a:endParaRPr/>
          </a:p>
        </p:txBody>
      </p:sp>
      <p:sp>
        <p:nvSpPr>
          <p:cNvPr id="228" name="Google Shape;228;p23">
            <a:extLst>
              <a:ext uri="{FF2B5EF4-FFF2-40B4-BE49-F238E27FC236}">
                <a16:creationId xmlns:a16="http://schemas.microsoft.com/office/drawing/2014/main" id="{373CD917-C365-C153-BB1A-9A3EEFF8A898}"/>
              </a:ext>
            </a:extLst>
          </p:cNvPr>
          <p:cNvSpPr txBox="1"/>
          <p:nvPr/>
        </p:nvSpPr>
        <p:spPr>
          <a:xfrm>
            <a:off x="6381750" y="342423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Sincronizzazione cloud.</a:t>
            </a:r>
            <a:endParaRPr/>
          </a:p>
        </p:txBody>
      </p:sp>
      <p:sp>
        <p:nvSpPr>
          <p:cNvPr id="229" name="Google Shape;229;p23">
            <a:extLst>
              <a:ext uri="{FF2B5EF4-FFF2-40B4-BE49-F238E27FC236}">
                <a16:creationId xmlns:a16="http://schemas.microsoft.com/office/drawing/2014/main" id="{DB3D21A5-1A50-6DD2-AC0D-C9FBF98CF2B8}"/>
              </a:ext>
            </a:extLst>
          </p:cNvPr>
          <p:cNvSpPr txBox="1"/>
          <p:nvPr/>
        </p:nvSpPr>
        <p:spPr>
          <a:xfrm>
            <a:off x="6381750" y="370998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Notifiche avanzate.</a:t>
            </a:r>
            <a:endParaRPr/>
          </a:p>
        </p:txBody>
      </p:sp>
      <p:sp>
        <p:nvSpPr>
          <p:cNvPr id="230" name="Google Shape;230;p23">
            <a:extLst>
              <a:ext uri="{FF2B5EF4-FFF2-40B4-BE49-F238E27FC236}">
                <a16:creationId xmlns:a16="http://schemas.microsoft.com/office/drawing/2014/main" id="{EF01D53A-B643-97A7-40FD-C913ED3EE07F}"/>
              </a:ext>
            </a:extLst>
          </p:cNvPr>
          <p:cNvSpPr txBox="1"/>
          <p:nvPr/>
        </p:nvSpPr>
        <p:spPr>
          <a:xfrm>
            <a:off x="6381750" y="399573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Gamification del timer.</a:t>
            </a:r>
            <a:endParaRPr/>
          </a:p>
        </p:txBody>
      </p:sp>
      <p:sp>
        <p:nvSpPr>
          <p:cNvPr id="231" name="Google Shape;231;p23">
            <a:extLst>
              <a:ext uri="{FF2B5EF4-FFF2-40B4-BE49-F238E27FC236}">
                <a16:creationId xmlns:a16="http://schemas.microsoft.com/office/drawing/2014/main" id="{0AAF8213-4D00-84C6-5387-1A51DE2584FE}"/>
              </a:ext>
            </a:extLst>
          </p:cNvPr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Valutazione e Chiusura</a:t>
            </a:r>
            <a:endParaRPr/>
          </a:p>
        </p:txBody>
      </p:sp>
      <p:sp>
        <p:nvSpPr>
          <p:cNvPr id="232" name="Google Shape;232;p23">
            <a:extLst>
              <a:ext uri="{FF2B5EF4-FFF2-40B4-BE49-F238E27FC236}">
                <a16:creationId xmlns:a16="http://schemas.microsoft.com/office/drawing/2014/main" id="{352232F6-3007-C319-A4E5-D3A2B476C6EF}"/>
              </a:ext>
            </a:extLst>
          </p:cNvPr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 descr="image.png">
            <a:extLst>
              <a:ext uri="{FF2B5EF4-FFF2-40B4-BE49-F238E27FC236}">
                <a16:creationId xmlns:a16="http://schemas.microsoft.com/office/drawing/2014/main" id="{6041A826-CECD-B07A-F0AB-333E63230A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147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>
            <a:extLst>
              <a:ext uri="{FF2B5EF4-FFF2-40B4-BE49-F238E27FC236}">
                <a16:creationId xmlns:a16="http://schemas.microsoft.com/office/drawing/2014/main" id="{DB351C6B-1C34-9C93-2E0B-6289F96C78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9195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>
            <a:extLst>
              <a:ext uri="{FF2B5EF4-FFF2-40B4-BE49-F238E27FC236}">
                <a16:creationId xmlns:a16="http://schemas.microsoft.com/office/drawing/2014/main" id="{EE56CBE5-6F58-6561-C154-61916BDFFA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4243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>
            <a:extLst>
              <a:ext uri="{FF2B5EF4-FFF2-40B4-BE49-F238E27FC236}">
                <a16:creationId xmlns:a16="http://schemas.microsoft.com/office/drawing/2014/main" id="{078A164E-83AE-0CA4-4249-FAA16321F8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476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>
            <a:extLst>
              <a:ext uri="{FF2B5EF4-FFF2-40B4-BE49-F238E27FC236}">
                <a16:creationId xmlns:a16="http://schemas.microsoft.com/office/drawing/2014/main" id="{1F652C51-B119-CF61-DFDB-4F6ED155C8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62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>
            <a:extLst>
              <a:ext uri="{FF2B5EF4-FFF2-40B4-BE49-F238E27FC236}">
                <a16:creationId xmlns:a16="http://schemas.microsoft.com/office/drawing/2014/main" id="{7714A1C7-6BC5-A8AA-FD10-D965F163A9A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481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49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79201E25-BE62-9E10-F167-3B726292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>
            <a:extLst>
              <a:ext uri="{FF2B5EF4-FFF2-40B4-BE49-F238E27FC236}">
                <a16:creationId xmlns:a16="http://schemas.microsoft.com/office/drawing/2014/main" id="{014FADE1-1115-A047-9593-7925815365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>
            <a:extLst>
              <a:ext uri="{FF2B5EF4-FFF2-40B4-BE49-F238E27FC236}">
                <a16:creationId xmlns:a16="http://schemas.microsoft.com/office/drawing/2014/main" id="{270F3F0B-DF1C-B356-C12D-50A78887C685}"/>
              </a:ext>
            </a:extLst>
          </p:cNvPr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>
            <a:extLst>
              <a:ext uri="{FF2B5EF4-FFF2-40B4-BE49-F238E27FC236}">
                <a16:creationId xmlns:a16="http://schemas.microsoft.com/office/drawing/2014/main" id="{496053D0-9CAE-D678-3FD2-A2E7206ED1FA}"/>
              </a:ext>
            </a:extLst>
          </p:cNvPr>
          <p:cNvSpPr txBox="1"/>
          <p:nvPr/>
        </p:nvSpPr>
        <p:spPr>
          <a:xfrm>
            <a:off x="3315652" y="2881312"/>
            <a:ext cx="55606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Demo</a:t>
            </a:r>
            <a:endParaRPr dirty="0"/>
          </a:p>
        </p:txBody>
      </p:sp>
      <p:sp>
        <p:nvSpPr>
          <p:cNvPr id="196" name="Google Shape;196;p21">
            <a:extLst>
              <a:ext uri="{FF2B5EF4-FFF2-40B4-BE49-F238E27FC236}">
                <a16:creationId xmlns:a16="http://schemas.microsoft.com/office/drawing/2014/main" id="{F67367C3-A5E9-9D46-3AD3-06B0D9DD7957}"/>
              </a:ext>
            </a:extLst>
          </p:cNvPr>
          <p:cNvSpPr txBox="1"/>
          <p:nvPr/>
        </p:nvSpPr>
        <p:spPr>
          <a:xfrm>
            <a:off x="3448050" y="4033837"/>
            <a:ext cx="5295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piccolo tour della nostra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applicazione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379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2375" y="3910012"/>
            <a:ext cx="46672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62375" y="160496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3762375" y="2462212"/>
            <a:ext cx="49006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Domande?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3762375" y="29384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StudySpace - Grazie per l'attenzione!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762375" y="439578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Elisa Negri &amp; Julie Gambale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762375" y="4872037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CPT Locarno | Modulo 306 | 2024-2025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308</Words>
  <Application>Microsoft Macintosh PowerPoint</Application>
  <PresentationFormat>Widescreen</PresentationFormat>
  <Paragraphs>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Plus Jakarta Sans ExtraBold</vt:lpstr>
      <vt:lpstr>Arial</vt:lpstr>
      <vt:lpstr>JetBrains Mono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xos319</cp:lastModifiedBy>
  <cp:revision>4</cp:revision>
  <dcterms:modified xsi:type="dcterms:W3CDTF">2026-06-07T22:01:36Z</dcterms:modified>
</cp:coreProperties>
</file>